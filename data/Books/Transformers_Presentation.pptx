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3" r:id="rId7"/>
    <p:sldId id="265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043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B3152">
              <a:alpha val="60000"/>
            </a:srgbClr>
          </a:solidFill>
          <a:ln w="12700">
            <a:solidFill>
              <a:srgbClr val="1B315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59436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WEB ENGINEERING  ·  SE 6TH SEM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D2BD"/>
                </a:solidFill>
              </a:rPr>
              <a:t>Architecture, Attention &amp; the Future of Deep Learning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3095947"/>
            <a:ext cx="2011680" cy="411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99AA"/>
                </a:solidFill>
              </a:rPr>
              <a:t>Presented by: Zainab Ramzan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8899AA"/>
                </a:solidFill>
              </a:rPr>
              <a:t>  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8899AA"/>
                </a:solidFill>
              </a:rPr>
              <a:t>Course: Web Engineering</a:t>
            </a:r>
            <a:endParaRPr lang="en-US" sz="1200" b="1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</a:rPr>
              <a:t>6th Semester — Software Engineering</a:t>
            </a:r>
            <a:endParaRPr lang="en-US" sz="1100" b="1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132320" y="26517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4869180"/>
            <a:ext cx="882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Transformers — Web Engineering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438912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What is a Transformer? Origins &amp; background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148840"/>
            <a:ext cx="438912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Why Transformers?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Limitations of RNNs and LSTMs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154680"/>
            <a:ext cx="438912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7824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Attention Is All You Need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The landmark 2017 paper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160520"/>
            <a:ext cx="438912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4160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Core Architecture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Self-attention, encoder, decoder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64608" y="1143000"/>
            <a:ext cx="438912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Types of Transformers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BERT, GPT, T5 and beyond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64608" y="2148840"/>
            <a:ext cx="438912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Applications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NLP, Vision, Audio and more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64608" y="3154680"/>
            <a:ext cx="438912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1143000"/>
            <a:ext cx="36576" cy="3566160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01 ·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4869180"/>
            <a:ext cx="882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Transformers — Web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Transformer?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051560"/>
            <a:ext cx="64008" cy="1691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115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Definition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</a:rPr>
              <a:t>A deep learning model that uses self-attention mechanisms to process sequential data in parallel — replacing the need for recurrence or convolution entirely.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" y="283464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2834640"/>
            <a:ext cx="64008" cy="17830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98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1729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</a:rPr>
              <a:t>2014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07008" y="317296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Seq2Seq with Attention (Bahdanau et al.)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021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</a:rPr>
              <a:t>2017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07008" y="35021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"Attention Is All You Need" — Vaswani et al. (Google Brain)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8313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</a:rPr>
              <a:t>2018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383133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BERT &amp; GPT-1 reshape NLP benchmarks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160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</a:rPr>
              <a:t>2020+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07008" y="416052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Vision, Audio, Biology — Transformers everywhere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1051560"/>
            <a:ext cx="2834640" cy="3566160"/>
          </a:xfrm>
          <a:prstGeom prst="rect">
            <a:avLst/>
          </a:prstGeom>
          <a:solidFill>
            <a:srgbClr val="1B3152"/>
          </a:solidFill>
          <a:ln w="12700">
            <a:solidFill>
              <a:srgbClr val="1B31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55080" y="1280160"/>
            <a:ext cx="2103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1280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Input Tokens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1664208"/>
            <a:ext cx="36576" cy="2834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55080" y="1965960"/>
            <a:ext cx="2103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1965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Embedding + Pos. Encoding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2350008"/>
            <a:ext cx="36576" cy="2834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55080" y="2651760"/>
            <a:ext cx="210312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5080" y="2651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Multi-Head Attention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06640" y="3035808"/>
            <a:ext cx="36576" cy="2834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5080" y="3337560"/>
            <a:ext cx="2103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3337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Feed Forward + Output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4315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D2BD"/>
                </a:solidFill>
              </a:rPr>
              <a:t>Simplified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02 · Why Transformers?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4869180"/>
            <a:ext cx="882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Transformers — Web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Were Transformers Needed?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051560"/>
            <a:ext cx="40690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3444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0976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/>
              <a:t>Forgot How to Learn</a:t>
            </a:r>
          </a:p>
        </p:txBody>
      </p:sp>
      <p:sp>
        <p:nvSpPr>
          <p:cNvPr id="11" name="Text 8"/>
          <p:cNvSpPr/>
          <p:nvPr/>
        </p:nvSpPr>
        <p:spPr>
          <a:xfrm>
            <a:off x="512064" y="16184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In deep RNNs, gradients shrink exponentially as they back-propagate through time steps, making it hard to learn long-range dependencies.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73168" y="105156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773168" y="1051560"/>
            <a:ext cx="4069080" cy="54864"/>
          </a:xfrm>
          <a:prstGeom prst="rect">
            <a:avLst/>
          </a:prstGeom>
          <a:solidFill>
            <a:srgbClr val="E9A800"/>
          </a:solidFill>
          <a:ln w="12700">
            <a:solidFill>
              <a:srgbClr val="E9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76672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2A"/>
                </a:solidFill>
              </a:rPr>
              <a:t>Sequential Processing </a:t>
            </a:r>
            <a:r>
              <a:rPr lang="en-US" sz="1400" dirty="0"/>
              <a:t>— </a:t>
            </a:r>
            <a:r>
              <a:rPr lang="en-US" sz="1200" b="1" dirty="0"/>
              <a:t>Too Slow</a:t>
            </a:r>
            <a:endParaRPr lang="en-US" sz="1300" b="1" dirty="0"/>
          </a:p>
        </p:txBody>
      </p:sp>
      <p:sp>
        <p:nvSpPr>
          <p:cNvPr id="16" name="Text 12"/>
          <p:cNvSpPr/>
          <p:nvPr/>
        </p:nvSpPr>
        <p:spPr>
          <a:xfrm>
            <a:off x="4937760" y="16184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RNNs process one token at a time — they cannot be parallelised. Training on long sequences is extremely slow on modern GPUs.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47472" y="29260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347472" y="2926080"/>
            <a:ext cx="4069080" cy="54864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10896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50976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/>
              <a:t>Short Term Memory</a:t>
            </a:r>
          </a:p>
        </p:txBody>
      </p:sp>
      <p:sp>
        <p:nvSpPr>
          <p:cNvPr id="21" name="Text 16"/>
          <p:cNvSpPr/>
          <p:nvPr/>
        </p:nvSpPr>
        <p:spPr>
          <a:xfrm>
            <a:off x="512064" y="34930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LSTM added gates to retain long-term memory, but context is still compressed into a single hidden state — information loss is inevitable.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73168" y="29260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73168" y="2926080"/>
            <a:ext cx="40690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0896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76672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Limited Context Window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937760" y="34930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Even with attention on RNNs, earlier tokens are still processed before later ones — true global context per-step remains elusive.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47472" y="4617720"/>
            <a:ext cx="8449056" cy="228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347472" y="4617720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Transformers eliminated sequential dependency — enabling full parallelisation and direct long-range attention.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04 · Types of Transformers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4869180"/>
            <a:ext cx="882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Transformers — Web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Transformers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051560"/>
            <a:ext cx="4069080" cy="40233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0515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Encoder-Only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4721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9396"/>
                </a:solidFill>
              </a:rPr>
              <a:t>e.g. BERT, RoBERTa, ALBERT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Both directions — full context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002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Best for: classification, NER, Q&amp;A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Masked Language Modelling objective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3168" y="10515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73168" y="1051560"/>
            <a:ext cx="4069080" cy="40233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01184" y="10515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Decoder-Only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01184" y="14721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9396"/>
                </a:solidFill>
              </a:rPr>
              <a:t>e.g. GPT-2, GPT-3, GPT-4, LLaMA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1184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Left-to-right generation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01184" y="2002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Best for: text generation, chat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01184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Autoregressive language modelling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29260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2926080"/>
            <a:ext cx="4069080" cy="402336"/>
          </a:xfrm>
          <a:prstGeom prst="rect">
            <a:avLst/>
          </a:prstGeom>
          <a:solidFill>
            <a:srgbClr val="D4522A"/>
          </a:solidFill>
          <a:ln w="12700">
            <a:solidFill>
              <a:srgbClr val="D45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29260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Encoder-Decoder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3467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9396"/>
                </a:solidFill>
              </a:rPr>
              <a:t>e.g. T5, BART, mT5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Full cross-attention bridge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3877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Best for: translation, summarisation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Sequence-to-sequence tasks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73168" y="29260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73168" y="2926080"/>
            <a:ext cx="406908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01184" y="29260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Vision Transformers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01184" y="33467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9396"/>
                </a:solidFill>
              </a:rPr>
              <a:t>e.g. ViT, DINO, Swin, DALL-E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01184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Image patches as tokens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01184" y="3877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Best for: image classification, detection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01184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Replaced CNN in many pipelines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05 · Applications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4869180"/>
            <a:ext cx="882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Transformers — Web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051560"/>
            <a:ext cx="265176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36208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36208" y="1051560"/>
            <a:ext cx="2651760" cy="5029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295351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953512"/>
            <a:ext cx="2651760" cy="502920"/>
          </a:xfrm>
          <a:prstGeom prst="rect">
            <a:avLst/>
          </a:prstGeom>
          <a:solidFill>
            <a:srgbClr val="D4522A"/>
          </a:solidFill>
          <a:ln w="12700">
            <a:solidFill>
              <a:srgbClr val="D45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295351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2953512"/>
            <a:ext cx="2651760" cy="502920"/>
          </a:xfrm>
          <a:prstGeom prst="rect">
            <a:avLst/>
          </a:prstGeom>
          <a:solidFill>
            <a:srgbClr val="0A7C59"/>
          </a:solidFill>
          <a:ln w="12700">
            <a:solidFill>
              <a:srgbClr val="0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36208" y="295351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6208" y="2953512"/>
            <a:ext cx="265176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43000"/>
            <a:ext cx="301752" cy="30175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50392" y="1115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Natural Language Processing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" y="1645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ChatGPT, Gemini, translation, summarisation</a:t>
            </a:r>
            <a:endParaRPr lang="en-US" sz="10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1143000"/>
            <a:ext cx="301752" cy="30175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39128" y="1115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Speech &amp; Audio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364224" y="1645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Whisper (OpenAI), MusicLM, audio classification</a:t>
            </a: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1143000"/>
            <a:ext cx="301752" cy="3017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94760" y="1115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Computer Vision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419856" y="1645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ViT, DALL-E, Stable Diffusion, image segmentation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044952"/>
            <a:ext cx="301752" cy="3017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50392" y="30175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Robotics &amp; RL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75488" y="354787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Decision Transformer, Gato, robotics planning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3044952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94760" y="30175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Healthcare &amp; Science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419856" y="354787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AlphaFold2 (protein folding), drug discovery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044952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39128" y="30175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Generation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364224" y="354787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GitHub Copilot, Codex, StarCoder, DeepSeek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4869180"/>
            <a:ext cx="882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Transformers — Web Engineering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B3152">
              <a:alpha val="45000"/>
            </a:srgbClr>
          </a:solidFill>
          <a:ln w="12700">
            <a:solidFill>
              <a:srgbClr val="1B315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182880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84048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The Shift —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11430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9D8"/>
                </a:solidFill>
              </a:rPr>
              <a:t>Transformers replaced sequential models with fully parallel, attention-driven architectures.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384048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84708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1892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The Paper —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189280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9D8"/>
                </a:solidFill>
              </a:rPr>
              <a:t>"Attention Is All You Need" (2017) introduced self-attention as the sole computational primitive.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384048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596896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26426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The Variety —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2642616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9D8"/>
                </a:solidFill>
              </a:rPr>
              <a:t>Encoder-only, decoder-only, and encoder-decoder variants serve different downstream tasks.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384048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34670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33924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The Impact —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57400" y="339242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9D8"/>
                </a:solidFill>
              </a:rPr>
              <a:t>From language to vision to biology — transformers are the backbone of modern AI.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384048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09651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4142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The Future —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57400" y="414223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9D8"/>
                </a:solidFill>
              </a:rPr>
              <a:t>Efficient, multimodal, and smaller transformers will power the next generation of AI systems.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A9396">
              <a:alpha val="18000"/>
            </a:srgbClr>
          </a:solidFill>
          <a:ln w="12700">
            <a:solidFill>
              <a:srgbClr val="0A93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1B3152">
              <a:alpha val="60000"/>
            </a:srgbClr>
          </a:solidFill>
          <a:ln w="12700">
            <a:solidFill>
              <a:srgbClr val="1B315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1B3152"/>
          </a:solidFill>
          <a:ln w="12700">
            <a:solidFill>
              <a:srgbClr val="2A4A7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3959352"/>
            <a:ext cx="64008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474720" y="2423160"/>
            <a:ext cx="2194560" cy="411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57860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Transformers — Web Engineering  ·  6th Semester SE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114800" y="914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630</Words>
  <Application>Microsoft Office PowerPoint</Application>
  <PresentationFormat>On-screen Show (16:9)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Zainab Ramzan</cp:lastModifiedBy>
  <cp:revision>8</cp:revision>
  <dcterms:created xsi:type="dcterms:W3CDTF">2026-05-08T16:04:14Z</dcterms:created>
  <dcterms:modified xsi:type="dcterms:W3CDTF">2026-05-09T04:49:00Z</dcterms:modified>
</cp:coreProperties>
</file>